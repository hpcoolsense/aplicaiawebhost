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5486400" cy="5486400"/>
          </a:xfrm>
          <a:prstGeom prst="ellipse">
            <a:avLst/>
          </a:prstGeom>
          <a:solidFill>
            <a:srgbClr val="EA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1E3"/>
                </a:solidFill>
                <a:latin typeface="Calibri"/>
              </a:defRPr>
            </a:pPr>
            <a:r>
              <a:t>// Lo que vemos en estudios con volumen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D1D1F"/>
                </a:solidFill>
                <a:latin typeface="Calibri"/>
              </a:rPr>
              <a:t>El crecimiento genera
</a:t>
            </a:r>
            <a:r>
              <a:rPr sz="4200" b="1">
                <a:solidFill>
                  <a:srgbClr val="AEAEB2"/>
                </a:solidFill>
                <a:latin typeface="Calibri"/>
              </a:rPr>
              <a:t>más trabajo, no más margen.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3197860"/>
            <a:ext cx="73152" cy="7315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8484A"/>
                </a:solidFill>
                <a:latin typeface="Calibri"/>
              </a:defRPr>
            </a:pPr>
            <a:r>
              <a:t>Carga manual de comprobantes que consume horas de equipo.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3883660"/>
            <a:ext cx="73152" cy="7315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794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8484A"/>
                </a:solidFill>
                <a:latin typeface="Calibri"/>
              </a:defRPr>
            </a:pPr>
            <a:r>
              <a:t>Conciliaciones bancarias lentas y propensas a errores.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569460"/>
            <a:ext cx="73152" cy="7315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8484A"/>
                </a:solidFill>
                <a:latin typeface="Calibri"/>
              </a:defRPr>
            </a:pPr>
            <a:r>
              <a:t>Cada cliente nuevo significa contratar más personas.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926080"/>
            <a:ext cx="3474720" cy="100584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1D1F"/>
                </a:solidFill>
                <a:latin typeface="Calibri"/>
              </a:defRPr>
            </a:pPr>
            <a:r>
              <a:t>Horas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Calibri"/>
              </a:defRPr>
            </a:pPr>
            <a:r>
              <a:t>en carga manual</a:t>
            </a:r>
            <a:br/>
            <a:r>
              <a:t>por semana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114800"/>
            <a:ext cx="3474720" cy="100584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1D1F"/>
                </a:solidFill>
                <a:latin typeface="Calibri"/>
              </a:defRPr>
            </a:pPr>
            <a:r>
              <a:t>Días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Calibri"/>
              </a:defRPr>
            </a:pPr>
            <a:r>
              <a:t>en conciliación</a:t>
            </a:r>
            <a:br/>
            <a:r>
              <a:t>bancaria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5303520"/>
            <a:ext cx="3474720" cy="100584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1D1F"/>
                </a:solidFill>
                <a:latin typeface="Calibri"/>
              </a:defRPr>
            </a:pPr>
            <a:r>
              <a:t>+Personal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5852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Calibri"/>
              </a:defRPr>
            </a:pPr>
            <a:r>
              <a:t>por cada bloque</a:t>
            </a:r>
            <a:br/>
            <a:r>
              <a:t>de clientes nuevos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1E3"/>
                </a:solidFill>
                <a:latin typeface="Calibri"/>
              </a:defRPr>
            </a:pPr>
            <a:r>
              <a:t>// La realidad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D1D1F"/>
                </a:solidFill>
                <a:latin typeface="Calibri"/>
              </a:rPr>
              <a:t>Cada cliente nuevo
</a:t>
            </a:r>
            <a:r>
              <a:rPr sz="4200" b="1">
                <a:solidFill>
                  <a:srgbClr val="AEAEB2"/>
                </a:solidFill>
                <a:latin typeface="Calibri"/>
              </a:rPr>
              <a:t>= más carga manual.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017520"/>
            <a:ext cx="9418320" cy="77724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1272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Calibri"/>
              </a:defRPr>
            </a:pPr>
            <a:r>
              <a:t>Más horas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564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Calibri"/>
              </a:defRPr>
            </a:pPr>
            <a:r>
              <a:t>de carga, revisión y control</a:t>
            </a:r>
          </a:p>
        </p:txBody>
      </p:sp>
      <p:sp>
        <p:nvSpPr>
          <p:cNvPr id="7" name="Oval 6"/>
          <p:cNvSpPr/>
          <p:nvPr/>
        </p:nvSpPr>
        <p:spPr>
          <a:xfrm>
            <a:off x="1554480" y="3273552"/>
            <a:ext cx="109728" cy="109728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3977640"/>
            <a:ext cx="9418320" cy="77724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087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Calibri"/>
              </a:defRPr>
            </a:pPr>
            <a:r>
              <a:t>Más errores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4165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Calibri"/>
              </a:defRPr>
            </a:pPr>
            <a:r>
              <a:t>que generan reproceso y rectificativas</a:t>
            </a:r>
          </a:p>
        </p:txBody>
      </p:sp>
      <p:sp>
        <p:nvSpPr>
          <p:cNvPr id="11" name="Oval 10"/>
          <p:cNvSpPr/>
          <p:nvPr/>
        </p:nvSpPr>
        <p:spPr>
          <a:xfrm>
            <a:off x="1554480" y="4233672"/>
            <a:ext cx="109728" cy="109728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4937760"/>
            <a:ext cx="9418320" cy="77724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5047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Calibri"/>
              </a:defRPr>
            </a:pPr>
            <a:r>
              <a:t>Más equipo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376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Calibri"/>
              </a:defRPr>
            </a:pPr>
            <a:r>
              <a:t>para hacer exactamente lo mismo</a:t>
            </a:r>
          </a:p>
        </p:txBody>
      </p:sp>
      <p:sp>
        <p:nvSpPr>
          <p:cNvPr id="15" name="Oval 14"/>
          <p:cNvSpPr/>
          <p:nvPr/>
        </p:nvSpPr>
        <p:spPr>
          <a:xfrm>
            <a:off x="1554480" y="5193792"/>
            <a:ext cx="109728" cy="109728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7315200" cy="7315200"/>
          </a:xfrm>
          <a:prstGeom prst="ellipse">
            <a:avLst/>
          </a:prstGeom>
          <a:solidFill>
            <a:srgbClr val="0F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El problema no es</a:t>
            </a:r>
            <a:br/>
            <a:r>
              <a:t>conseguir clientes.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AC8FA"/>
                </a:solidFill>
                <a:latin typeface="Calibri"/>
              </a:defRPr>
            </a:pPr>
            <a:r>
              <a:t>Es procesarlos.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1E3"/>
                </a:solidFill>
                <a:latin typeface="Calibri"/>
              </a:defRPr>
            </a:pPr>
            <a:r>
              <a:t>// El costo invisible de no automatizar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D1D1F"/>
                </a:solidFill>
                <a:latin typeface="Calibri"/>
              </a:defRPr>
            </a:pPr>
            <a:r>
              <a:t>Lo que perdés cada mes sin saberlo.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60320"/>
            <a:ext cx="3108960" cy="292608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0"/>
            <a:ext cx="310896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D1D1F"/>
                </a:solidFill>
                <a:latin typeface="Calibri"/>
              </a:defRPr>
            </a:pPr>
            <a:r>
              <a:t>Tiempo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4747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8484A"/>
                </a:solidFill>
                <a:latin typeface="Calibri"/>
              </a:defRPr>
            </a:pPr>
            <a:r>
              <a:t>Horas de equipo en tareas</a:t>
            </a:r>
            <a:br/>
            <a:r>
              <a:t>que un sistema resuelve solo.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560320"/>
            <a:ext cx="3108960" cy="292608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2560320"/>
            <a:ext cx="3108960" cy="381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D1D1F"/>
                </a:solidFill>
                <a:latin typeface="Calibri"/>
              </a:defRPr>
            </a:pPr>
            <a:r>
              <a:t>Precisión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4747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8484A"/>
                </a:solidFill>
                <a:latin typeface="Calibri"/>
              </a:defRPr>
            </a:pPr>
            <a:r>
              <a:t>Errores de categorización</a:t>
            </a:r>
            <a:br/>
            <a:r>
              <a:t>que generan reproceso.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560320"/>
            <a:ext cx="3108960" cy="292608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560320"/>
            <a:ext cx="310896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D1D1F"/>
                </a:solidFill>
                <a:latin typeface="Calibri"/>
              </a:defRPr>
            </a:pPr>
            <a:r>
              <a:t>Crecimiento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4747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8484A"/>
                </a:solidFill>
                <a:latin typeface="Calibri"/>
              </a:defRPr>
            </a:pPr>
            <a:r>
              <a:t>Clientes que no podés tomar</a:t>
            </a:r>
            <a:br/>
            <a:r>
              <a:t>sin sumar personal.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1E3"/>
                </a:solidFill>
                <a:latin typeface="Calibri"/>
              </a:defRPr>
            </a:pPr>
            <a:r>
              <a:t>// 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D1D1F"/>
                </a:solidFill>
                <a:latin typeface="Calibri"/>
              </a:rPr>
              <a:t>Resultados.
</a:t>
            </a:r>
            <a:r>
              <a:rPr sz="4200" b="1">
                <a:solidFill>
                  <a:srgbClr val="AEAEB2"/>
                </a:solidFill>
                <a:latin typeface="Calibri"/>
              </a:rPr>
              <a:t>No features.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926080"/>
            <a:ext cx="3108960" cy="237744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40" y="3200400"/>
            <a:ext cx="365760" cy="3657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37490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D1D1F"/>
                </a:solidFill>
                <a:latin typeface="Calibri"/>
              </a:defRPr>
            </a:pPr>
            <a:r>
              <a:t>Facturas procesadas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4206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Calibri"/>
              </a:defRPr>
            </a:pPr>
            <a:r>
              <a:t>sin intervención humana.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926080"/>
            <a:ext cx="3108960" cy="237744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0" y="3200400"/>
            <a:ext cx="365760" cy="3657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7490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D1D1F"/>
                </a:solidFill>
                <a:latin typeface="Calibri"/>
              </a:defRPr>
            </a:pPr>
            <a:r>
              <a:t>Conciliación bancaria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206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Calibri"/>
              </a:defRPr>
            </a:pPr>
            <a:r>
              <a:t>de horas a segundos.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926080"/>
            <a:ext cx="3108960" cy="237744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66760" y="3200400"/>
            <a:ext cx="365760" cy="3657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7490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D1D1F"/>
                </a:solidFill>
                <a:latin typeface="Calibri"/>
              </a:defRPr>
            </a:pPr>
            <a:r>
              <a:t>Control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206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Calibri"/>
              </a:defRPr>
            </a:pPr>
            <a:r>
              <a:t>en un solo lugar.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1E3"/>
                </a:solidFill>
                <a:latin typeface="Calibri"/>
              </a:defRPr>
            </a:pPr>
            <a:r>
              <a:t>// El cambio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D1D1F"/>
                </a:solidFill>
                <a:latin typeface="Calibri"/>
              </a:defRPr>
            </a:pPr>
            <a:r>
              <a:t>Antes vs. Después.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700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D1D1F"/>
                </a:solidFill>
                <a:latin typeface="Calibri"/>
              </a:defRPr>
            </a:pPr>
            <a:r>
              <a:t>Facturas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560320"/>
            <a:ext cx="3840480" cy="594360"/>
          </a:xfrm>
          <a:prstGeom prst="roundRect">
            <a:avLst/>
          </a:prstGeom>
          <a:solidFill>
            <a:srgbClr val="FDECEB"/>
          </a:solidFill>
          <a:ln w="9525">
            <a:solidFill>
              <a:srgbClr val="F0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26700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3935"/>
                </a:solidFill>
                <a:latin typeface="Calibri"/>
              </a:defRPr>
            </a:pPr>
            <a:r>
              <a:t>Carga manual, una por una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2633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EAEB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560320"/>
            <a:ext cx="3840480" cy="594360"/>
          </a:xfrm>
          <a:prstGeom prst="roundRect">
            <a:avLst/>
          </a:prstGeom>
          <a:solidFill>
            <a:srgbClr val="E8F8ED"/>
          </a:solidFill>
          <a:ln w="9525">
            <a:solidFill>
              <a:srgbClr val="B8E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6700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C759"/>
                </a:solidFill>
                <a:latin typeface="Calibri"/>
              </a:defRPr>
            </a:pPr>
            <a:r>
              <a:t>Procesamiento automático con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93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D1D1F"/>
                </a:solidFill>
                <a:latin typeface="Calibri"/>
              </a:defRPr>
            </a:pPr>
            <a:r>
              <a:t>Conciliación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383280"/>
            <a:ext cx="3840480" cy="594360"/>
          </a:xfrm>
          <a:prstGeom prst="roundRect">
            <a:avLst/>
          </a:prstGeom>
          <a:solidFill>
            <a:srgbClr val="FDECEB"/>
          </a:solidFill>
          <a:ln w="9525">
            <a:solidFill>
              <a:srgbClr val="F0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34930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3935"/>
                </a:solidFill>
                <a:latin typeface="Calibri"/>
              </a:defRPr>
            </a:pPr>
            <a:r>
              <a:t>Horas cruzando extractos a mano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4564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EAEB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383280"/>
            <a:ext cx="3840480" cy="594360"/>
          </a:xfrm>
          <a:prstGeom prst="roundRect">
            <a:avLst/>
          </a:prstGeom>
          <a:solidFill>
            <a:srgbClr val="E8F8ED"/>
          </a:solidFill>
          <a:ln w="9525">
            <a:solidFill>
              <a:srgbClr val="B8E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4930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C759"/>
                </a:solidFill>
                <a:latin typeface="Calibri"/>
              </a:defRPr>
            </a:pPr>
            <a:r>
              <a:t>Segundos, cruce automático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159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D1D1F"/>
                </a:solidFill>
                <a:latin typeface="Calibri"/>
              </a:defRPr>
            </a:pPr>
            <a:r>
              <a:t>Crecimiento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4206240"/>
            <a:ext cx="3840480" cy="594360"/>
          </a:xfrm>
          <a:prstGeom prst="roundRect">
            <a:avLst/>
          </a:prstGeom>
          <a:solidFill>
            <a:srgbClr val="FDECEB"/>
          </a:solidFill>
          <a:ln w="9525">
            <a:solidFill>
              <a:srgbClr val="F0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43159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3935"/>
                </a:solidFill>
                <a:latin typeface="Calibri"/>
              </a:defRPr>
            </a:pPr>
            <a:r>
              <a:t>Contratar para crecer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2793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EAEB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4206240"/>
            <a:ext cx="3840480" cy="594360"/>
          </a:xfrm>
          <a:prstGeom prst="roundRect">
            <a:avLst/>
          </a:prstGeom>
          <a:solidFill>
            <a:srgbClr val="E8F8ED"/>
          </a:solidFill>
          <a:ln w="9525">
            <a:solidFill>
              <a:srgbClr val="B8E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3159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C759"/>
                </a:solidFill>
                <a:latin typeface="Calibri"/>
              </a:defRPr>
            </a:pPr>
            <a:r>
              <a:t>Mismo equipo, más capacidad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1E3"/>
                </a:solidFill>
                <a:latin typeface="Calibri"/>
              </a:defRPr>
            </a:pPr>
            <a:r>
              <a:t>// Cómo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El flujo completo.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2286000"/>
            <a:ext cx="3017520" cy="3657600"/>
          </a:xfrm>
          <a:prstGeom prst="roundRect">
            <a:avLst/>
          </a:prstGeom>
          <a:solidFill>
            <a:srgbClr val="1A1A22"/>
          </a:solidFill>
          <a:ln w="9525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2286000"/>
            <a:ext cx="3017520" cy="38100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Entrada</a:t>
            </a:r>
          </a:p>
        </p:txBody>
      </p:sp>
      <p:sp>
        <p:nvSpPr>
          <p:cNvPr id="7" name="Oval 6"/>
          <p:cNvSpPr/>
          <p:nvPr/>
        </p:nvSpPr>
        <p:spPr>
          <a:xfrm>
            <a:off x="1554480" y="3355340"/>
            <a:ext cx="73152" cy="73152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AEB2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9" name="Oval 8"/>
          <p:cNvSpPr/>
          <p:nvPr/>
        </p:nvSpPr>
        <p:spPr>
          <a:xfrm>
            <a:off x="1554480" y="3812540"/>
            <a:ext cx="73152" cy="73152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49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AEB2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11" name="Oval 10"/>
          <p:cNvSpPr/>
          <p:nvPr/>
        </p:nvSpPr>
        <p:spPr>
          <a:xfrm>
            <a:off x="1554480" y="4269740"/>
            <a:ext cx="73152" cy="73152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206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AEB2"/>
                </a:solidFill>
                <a:latin typeface="Calibri"/>
              </a:defRPr>
            </a:pPr>
            <a:r>
              <a:t>Drive</a:t>
            </a:r>
          </a:p>
        </p:txBody>
      </p:sp>
      <p:sp>
        <p:nvSpPr>
          <p:cNvPr id="13" name="Oval 12"/>
          <p:cNvSpPr/>
          <p:nvPr/>
        </p:nvSpPr>
        <p:spPr>
          <a:xfrm>
            <a:off x="1554480" y="4726940"/>
            <a:ext cx="73152" cy="73152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663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AEB2"/>
                </a:solidFill>
                <a:latin typeface="Calibri"/>
              </a:defRPr>
            </a:pPr>
            <a:r>
              <a:t>Carpeta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840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E8E9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286000"/>
            <a:ext cx="3017520" cy="3657600"/>
          </a:xfrm>
          <a:prstGeom prst="roundRect">
            <a:avLst/>
          </a:prstGeom>
          <a:solidFill>
            <a:srgbClr val="1A1A22"/>
          </a:solidFill>
          <a:ln w="9525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2286000"/>
            <a:ext cx="301752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Sistema IA</a:t>
            </a:r>
          </a:p>
        </p:txBody>
      </p:sp>
      <p:sp>
        <p:nvSpPr>
          <p:cNvPr id="19" name="Oval 18"/>
          <p:cNvSpPr/>
          <p:nvPr/>
        </p:nvSpPr>
        <p:spPr>
          <a:xfrm>
            <a:off x="4800600" y="3355340"/>
            <a:ext cx="73152" cy="7315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3291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AEB2"/>
                </a:solidFill>
                <a:latin typeface="Calibri"/>
              </a:defRPr>
            </a:pPr>
            <a:r>
              <a:t>Lectura OCR</a:t>
            </a:r>
          </a:p>
        </p:txBody>
      </p:sp>
      <p:sp>
        <p:nvSpPr>
          <p:cNvPr id="21" name="Oval 20"/>
          <p:cNvSpPr/>
          <p:nvPr/>
        </p:nvSpPr>
        <p:spPr>
          <a:xfrm>
            <a:off x="4800600" y="3812540"/>
            <a:ext cx="73152" cy="7315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3749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AEB2"/>
                </a:solidFill>
                <a:latin typeface="Calibri"/>
              </a:defRPr>
            </a:pPr>
            <a:r>
              <a:t>Categorización</a:t>
            </a:r>
          </a:p>
        </p:txBody>
      </p:sp>
      <p:sp>
        <p:nvSpPr>
          <p:cNvPr id="23" name="Oval 22"/>
          <p:cNvSpPr/>
          <p:nvPr/>
        </p:nvSpPr>
        <p:spPr>
          <a:xfrm>
            <a:off x="4800600" y="4269740"/>
            <a:ext cx="73152" cy="7315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4206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AEB2"/>
                </a:solidFill>
                <a:latin typeface="Calibri"/>
              </a:defRPr>
            </a:pPr>
            <a:r>
              <a:t>Conciliación</a:t>
            </a:r>
          </a:p>
        </p:txBody>
      </p:sp>
      <p:sp>
        <p:nvSpPr>
          <p:cNvPr id="25" name="Oval 24"/>
          <p:cNvSpPr/>
          <p:nvPr/>
        </p:nvSpPr>
        <p:spPr>
          <a:xfrm>
            <a:off x="4800600" y="4726940"/>
            <a:ext cx="73152" cy="7315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4663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AEB2"/>
                </a:solidFill>
                <a:latin typeface="Calibri"/>
              </a:defRPr>
            </a:pPr>
            <a:r>
              <a:t>Validación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840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E8E9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0" y="2286000"/>
            <a:ext cx="3017520" cy="3657600"/>
          </a:xfrm>
          <a:prstGeom prst="roundRect">
            <a:avLst/>
          </a:prstGeom>
          <a:solidFill>
            <a:srgbClr val="1A1A22"/>
          </a:solidFill>
          <a:ln w="9525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80960" y="2286000"/>
            <a:ext cx="3017520" cy="381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Resultado</a:t>
            </a:r>
          </a:p>
        </p:txBody>
      </p:sp>
      <p:sp>
        <p:nvSpPr>
          <p:cNvPr id="31" name="Oval 30"/>
          <p:cNvSpPr/>
          <p:nvPr/>
        </p:nvSpPr>
        <p:spPr>
          <a:xfrm>
            <a:off x="8046720" y="3355340"/>
            <a:ext cx="73152" cy="73152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291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AEB2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33" name="Oval 32"/>
          <p:cNvSpPr/>
          <p:nvPr/>
        </p:nvSpPr>
        <p:spPr>
          <a:xfrm>
            <a:off x="8046720" y="3812540"/>
            <a:ext cx="73152" cy="73152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749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AEB2"/>
                </a:solidFill>
                <a:latin typeface="Calibri"/>
              </a:defRPr>
            </a:pPr>
            <a:r>
              <a:t>Alertas</a:t>
            </a:r>
          </a:p>
        </p:txBody>
      </p:sp>
      <p:sp>
        <p:nvSpPr>
          <p:cNvPr id="35" name="Oval 34"/>
          <p:cNvSpPr/>
          <p:nvPr/>
        </p:nvSpPr>
        <p:spPr>
          <a:xfrm>
            <a:off x="8046720" y="4269740"/>
            <a:ext cx="73152" cy="73152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206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AEB2"/>
                </a:solidFill>
                <a:latin typeface="Calibri"/>
              </a:defRPr>
            </a:pPr>
            <a:r>
              <a:t>Reportes</a:t>
            </a:r>
          </a:p>
        </p:txBody>
      </p:sp>
      <p:sp>
        <p:nvSpPr>
          <p:cNvPr id="37" name="Oval 36"/>
          <p:cNvSpPr/>
          <p:nvPr/>
        </p:nvSpPr>
        <p:spPr>
          <a:xfrm>
            <a:off x="8046720" y="4726940"/>
            <a:ext cx="73152" cy="73152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663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AEB2"/>
                </a:solidFill>
                <a:latin typeface="Calibri"/>
              </a:defRPr>
            </a:pPr>
            <a:r>
              <a:t>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1E3"/>
                </a:solidFill>
                <a:latin typeface="Calibri"/>
              </a:defRPr>
            </a:pPr>
            <a:r>
              <a:t>// Por qué es diferente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D1D1F"/>
                </a:solidFill>
                <a:latin typeface="Calibri"/>
              </a:rPr>
              <a:t>No reemplaza tu sistema.
</a:t>
            </a:r>
            <a:r>
              <a:rPr sz="4000" b="1">
                <a:solidFill>
                  <a:srgbClr val="0071E3"/>
                </a:solidFill>
                <a:latin typeface="Calibri"/>
              </a:rPr>
              <a:t>Lo potencia.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017520"/>
            <a:ext cx="3108960" cy="201168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Calibri"/>
              </a:defRPr>
            </a:pPr>
            <a:r>
              <a:t>Tu equipo valida, no carga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38404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Calibri"/>
              </a:defRPr>
            </a:pPr>
            <a:r>
              <a:t>Pasan de data entry a supervisión.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3017520"/>
            <a:ext cx="3108960" cy="201168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Calibri"/>
              </a:defRPr>
            </a:pPr>
            <a:r>
              <a:t>Funciona 24/7, sin errores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Calibri"/>
              </a:defRPr>
            </a:pPr>
            <a:r>
              <a:t>No se cansa, no se confunde, no se olvida.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017520"/>
            <a:ext cx="3108960" cy="201168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Calibri"/>
              </a:defRPr>
            </a:pPr>
            <a:r>
              <a:t>Escalable sin límite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8404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93"/>
                </a:solidFill>
                <a:latin typeface="Calibri"/>
              </a:defRPr>
            </a:pPr>
            <a:r>
              <a:t>Más clientes, misma estructura.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1E3"/>
                </a:solidFill>
                <a:latin typeface="Calibri"/>
              </a:defRPr>
            </a:pPr>
            <a:r>
              <a:t>//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D1D1F"/>
                </a:solidFill>
                <a:latin typeface="Calibri"/>
              </a:defRPr>
            </a:pPr>
            <a:r>
              <a:t>Lo que cambia.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60320"/>
            <a:ext cx="3108960" cy="219456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2834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1E3"/>
                </a:solidFill>
                <a:latin typeface="Calibri"/>
              </a:defRPr>
            </a:pPr>
            <a:r>
              <a:t>50–70%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3566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8484A"/>
                </a:solidFill>
                <a:latin typeface="Calibri"/>
              </a:defRPr>
            </a:pPr>
            <a:r>
              <a:t>reducción de tiempo</a:t>
            </a:r>
            <a:br/>
            <a:r>
              <a:t>en tareas operativas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2560320"/>
            <a:ext cx="3108960" cy="219456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2834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1E3"/>
                </a:solidFill>
                <a:latin typeface="Calibri"/>
              </a:defRPr>
            </a:pPr>
            <a:r>
              <a:t>Segundos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566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8484A"/>
                </a:solidFill>
                <a:latin typeface="Calibri"/>
              </a:defRPr>
            </a:pPr>
            <a:r>
              <a:t>en conciliación</a:t>
            </a:r>
            <a:br/>
            <a:r>
              <a:t>bancaria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560320"/>
            <a:ext cx="3108960" cy="219456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834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1E3"/>
                </a:solidFill>
                <a:latin typeface="Calibri"/>
              </a:defRPr>
            </a:pPr>
            <a:r>
              <a:t>Mismo equipo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566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8484A"/>
                </a:solidFill>
                <a:latin typeface="Calibri"/>
              </a:defRPr>
            </a:pPr>
            <a:r>
              <a:t>más capacidad</a:t>
            </a:r>
            <a:br/>
            <a:r>
              <a:t>sin contratar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1206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E8E93"/>
                </a:solidFill>
                <a:latin typeface="Calibri"/>
              </a:defRPr>
            </a:pPr>
            <a:r>
              <a:t>Resultados reales de estudios que ya implementaron el sistema.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1E3"/>
                </a:solidFill>
                <a:latin typeface="Calibri"/>
              </a:defRPr>
            </a:pPr>
            <a:r>
              <a:t>//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D1D1F"/>
                </a:solidFill>
                <a:latin typeface="Calibri"/>
              </a:rPr>
              <a:t>En menos de 48 horas:
</a:t>
            </a:r>
            <a:r>
              <a:rPr sz="4000" b="1">
                <a:solidFill>
                  <a:srgbClr val="AEAEB2"/>
                </a:solidFill>
                <a:latin typeface="Calibri"/>
              </a:rPr>
              <a:t>configurado, capacitado, activo.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2926080"/>
            <a:ext cx="2468880" cy="256032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63040" y="3200400"/>
            <a:ext cx="457200" cy="4572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Calibri"/>
              </a:defRPr>
            </a:pPr>
            <a:r>
              <a:t>Diagnóstico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2519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  <a:latin typeface="Calibri"/>
              </a:defRPr>
            </a:pPr>
            <a:r>
              <a:t>Entendemos tu operación</a:t>
            </a:r>
            <a:br/>
            <a:r>
              <a:t>y detectamos cuellos de botella.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657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EAEB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926080"/>
            <a:ext cx="2468880" cy="256032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60520" y="3200400"/>
            <a:ext cx="457200" cy="4572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Calibri"/>
              </a:defRPr>
            </a:pPr>
            <a:r>
              <a:t>Configuración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2519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  <a:latin typeface="Calibri"/>
              </a:defRPr>
            </a:pPr>
            <a:r>
              <a:t>Integramos el sistema</a:t>
            </a:r>
            <a:br/>
            <a:r>
              <a:t>con tu software actual.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657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EAEB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926080"/>
            <a:ext cx="2468880" cy="256032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3200400"/>
            <a:ext cx="457200" cy="4572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Calibri"/>
              </a:defRPr>
            </a:pPr>
            <a:r>
              <a:t>Capacitación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2519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  <a:latin typeface="Calibri"/>
              </a:defRPr>
            </a:pPr>
            <a:r>
              <a:t>Tu equipo aprende a usar</a:t>
            </a:r>
            <a:br/>
            <a:r>
              <a:t>el sistema en una sesión.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657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EAEB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2926080"/>
            <a:ext cx="2468880" cy="2560320"/>
          </a:xfrm>
          <a:prstGeom prst="roundRect">
            <a:avLst/>
          </a:prstGeom>
          <a:solidFill>
            <a:srgbClr val="F0F0F5"/>
          </a:solidFill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55480" y="3200400"/>
            <a:ext cx="457200" cy="4572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F"/>
                </a:solidFill>
                <a:latin typeface="Calibri"/>
              </a:defRPr>
            </a:pPr>
            <a:r>
              <a:t>Activo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42519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  <a:latin typeface="Calibri"/>
              </a:defRPr>
            </a:pPr>
            <a:r>
              <a:t>Sistema en producción</a:t>
            </a:r>
            <a:br/>
            <a:r>
              <a:t>con soporte continuo.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457200"/>
            <a:ext cx="6400800" cy="6400800"/>
          </a:xfrm>
          <a:prstGeom prst="ellipse">
            <a:avLst/>
          </a:prstGeom>
          <a:solidFill>
            <a:srgbClr val="0F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No necesitás</a:t>
            </a:r>
            <a:br/>
            <a:r>
              <a:t>más clientes.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5AC8FA"/>
                </a:solidFill>
                <a:latin typeface="Calibri"/>
              </a:defRPr>
            </a:pPr>
            <a:r>
              <a:t>Necesitás procesarlos mejor.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5303520"/>
            <a:ext cx="5760720" cy="82296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53766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Agendá una reunión. Sin compromiso.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5715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C8FF"/>
                </a:solidFill>
                <a:latin typeface="Calibri"/>
              </a:defRPr>
            </a:pPr>
            <a:r>
              <a:t>30 minutos  ·  Un plan concreto  ·  A tu medida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